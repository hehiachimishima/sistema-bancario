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22 pruebas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Pruebas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Aprobadas</c:v>
                </c:pt>
                <c:pt idx="1">
                  <c:v>Parciales</c:v>
                </c:pt>
                <c:pt idx="2">
                  <c:v>Diseñadas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Sistema Bancario: planificación, diseño, desarrollo, pruebas y despliegue. El proyecto es demostrativo y no procesa dinero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presentación sigue la estructura del documento: planificación, diseño, dos sprints, pruebas/despliegue y conclusiones. Duración objetivo: 15–20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solo 'hacer una app': es unificar identidad, operación y decisión. El sistema es demostrativo: simula saldos, no procesa dinero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objetivo general se descompone en acceso, gobierno, operación, reglas, casos y despliegue. Las métricas provienen del repositorio verificado.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Canvas adaptado a un proyecto académico. La propuesta de valor es la integración de cuentas, movimientos, reglas y casos con trazabilidad.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Importante ser explícito: es un prototipo académico. Los límites se documentan y se convierten en recomendaciones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requerimientos se agruparon en tres bloques. Los RNF cubren seguridad, integridad, rendimiento, usabilidad, mantenibilidad y portabilidad.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navegador habla con nginx; nginx sirve el SPA y proxifica /api. El backend es stateless y accede a MySQL. Docker y Render simplifican el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separa identidad de operación. Las tablas asociativas implementan RBAC y overrides; las vistas aplican deny-wins. Las FK RESTRICT protegen el historial.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es RBAC puro con overrides. La vista final aplica MIN(otorgado), de modo que un deny individual gana. El frontend usa los permisos para el menú; el backend los exige con @PreAuthorize.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Sprint 1 resuelve identidad y autorización. La decisión clave es no guardar permisos en el JWT: se resuelven por petición para que un deny o una desactivación tengan efecto inmediato.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orden importa: rate limit antes de tocar la base; BCrypt siempre; estado de cuenta; permisos; JWT. Los errores usan el mismo mensaje para no filtrar la existencia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Sprint 2 añade la operación bancaria. Los números son del entorno de demostración: 22 cuentas, 8 movimientos, 6 casos y 16 evaluaciones de reglas.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Depósitos y retiros se eximen del motor de reglas porque se confirman con contraseña. Transferencias y pagos se evalúan; si falla una regla, quedan pendientes y abren un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reglas se evalúan antes de guardar la transacción y se persiste el detalle de cada una. El analista ve exactamente qué regla falló y con qué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secuencia completa está en el Word. El punto crítico es que la carga y el bloqueo de cuentas, la evaluación, el guardado y la apertura del caso ocurren en la misma transacción.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bandeja no es solo una lista: muestra la evaluación. Eso permite explicar por qué se derivó y tomar una decisión con evidencia. Aprobar/rechazar exige RESOLVER_CASO.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wireframes muestran la estructura real: login a dos columnas, selector de paneles con tarjetas. El shell es único: sidebar, topbar, tema y logout no se duplican por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dashboard administrativo muestra usuarios, roles, permisos y cuentas. La tabla de cuentas incluye estado y acciones; una cuenta con movimientos no se elimina.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Movimientos y casos comparten la misma información de reglas. El analista puede ver el detalle y decidir; el usuario ve el estado de su operación.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reales: build y tests en verde; health 204; login y endpoints 200; sin token 401; CORS externo 403; POST vacío 400. La suite E2E queda pendiente y se declara como 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Dockerfile compila Angular y Spring, y en runtime ejecuta nginx + supervisord + backend. MySQL es un servicio externo; Render publica un solo puerto y usa /api/health como health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seguridad implementada es sólida para el alcance: JWT, BCrypt, rate limit, RBAC y auditoría. Las recomendaciones incluyen MFA, refresh tokens, backups y observabilidad.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el valor está en la arquitectura, el control de acceso, las reglas explicables y la verificación reproducible. Los límites se declaran sin maquillarlos.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recomendaciones se ordenan por impacto: seguridad, pruebas, resiliencia y luego evolución funcional. No se implementan en este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y demo. El sistema corre localmente; la documentación y los wireframes están en docs/. Agradecer y abrir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pt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RECORRIDO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Agenda de la presentación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508760"/>
            <a:ext cx="658368" cy="658368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55063"/>
            <a:ext cx="65836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1" y="1545336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Arial"/>
              </a:rPr>
              <a:t>Planificación y análisis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1" y="1819656"/>
            <a:ext cx="10058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rial"/>
              </a:rPr>
              <a:t>Problema, objetivos, Canvas, alcance y requerimientos.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368296"/>
            <a:ext cx="658368" cy="658368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514600"/>
            <a:ext cx="65836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1" y="2404872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Arial"/>
              </a:rPr>
              <a:t>Diseño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1" y="2679191"/>
            <a:ext cx="10058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rial"/>
              </a:rPr>
              <a:t>Arquitectura, modelo entidad-relación y diagrama de clases.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227832"/>
            <a:ext cx="658368" cy="658368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374136"/>
            <a:ext cx="65836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3264408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Arial"/>
              </a:rPr>
              <a:t>Desarrollo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1" y="3538727"/>
            <a:ext cx="10058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rial"/>
              </a:rPr>
              <a:t>Sprint 1 de autenticación y Sprint 2 de cuentas y movimientos.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087368"/>
            <a:ext cx="658368" cy="658368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33672"/>
            <a:ext cx="65836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1" y="4123944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Arial"/>
              </a:rPr>
              <a:t>Pruebas y despliegue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1" y="4398264"/>
            <a:ext cx="10058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rial"/>
              </a:rPr>
              <a:t>Verificación, manuales, Docker/Render y mantenimiento.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946904"/>
            <a:ext cx="658368" cy="658368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93208"/>
            <a:ext cx="65836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1" y="4983480"/>
            <a:ext cx="3840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545"/>
                </a:solidFill>
                <a:latin typeface="Arial"/>
              </a:rPr>
              <a:t>Cierre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1" y="5257800"/>
            <a:ext cx="100584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Arial"/>
              </a:rPr>
              <a:t>Conclusiones, recomendaciones y siguientes pasos.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03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El problema: operar sin un sistema único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La información, la autorización y las decisiones viven en lugares distintos.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9164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87451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65960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2316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Arial"/>
              </a:rPr>
              <a:t>Información dispersa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88920"/>
            <a:ext cx="310896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48B"/>
                </a:solidFill>
                <a:latin typeface="Arial"/>
              </a:rPr>
              <a:t>Hojas de cálculo y registros manuales duplican cuentas y movimientos.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169164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3984" y="187451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965960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42316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Arial"/>
              </a:rPr>
              <a:t>Poca trazabilidad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2788920"/>
            <a:ext cx="310896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48B"/>
                </a:solidFill>
                <a:latin typeface="Arial"/>
              </a:rPr>
              <a:t>No queda claro quién creó, modificó o aprobó cada operación.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69164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74736" y="187451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965960"/>
            <a:ext cx="457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C2626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42316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Arial"/>
              </a:rPr>
              <a:t>Decisiones sin criterio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788920"/>
            <a:ext cx="310896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4748B"/>
                </a:solidFill>
                <a:latin typeface="Arial"/>
              </a:rPr>
              <a:t>No hay una regla uniforme para aprobar o derivar una transferencia.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160520"/>
            <a:ext cx="11109960" cy="16002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15968"/>
            <a:ext cx="10332720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¿Cómo centralizar cuentas y movimientos con seguridad,
trazabilidad y reglas explícitas?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047488"/>
            <a:ext cx="10332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4D6EB"/>
                </a:solidFill>
                <a:latin typeface="Arial"/>
              </a:rPr>
              <a:t>La respuesta: una SPA + API REST, RBAC, JWT, motor R1–R4 y una bandeja de casos.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" y="541324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00" b="1">
                <a:solidFill>
                  <a:srgbClr val="A7F3D0"/>
                </a:solidFill>
                <a:latin typeface="Arial"/>
              </a:rPr>
              <a:t>Demostrativo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Objetivos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600200"/>
            <a:ext cx="4709160" cy="34290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10512"/>
            <a:ext cx="4114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563EB"/>
                </a:solidFill>
                <a:latin typeface="Arial"/>
              </a:rPr>
              <a:t>OBJETIVO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48840"/>
            <a:ext cx="4160520" cy="2377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B2545"/>
                </a:solidFill>
                <a:latin typeface="Arial"/>
              </a:rPr>
              <a:t>Gestionar cuentas y movimientos con autenticación, permisos, reglas de aprobación y trazabilidad, manteniendo la consistencia de saldos.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572000"/>
            <a:ext cx="4114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rial"/>
              </a:rPr>
              <a:t>Cuatro paneles, un solo shell y una API stateless.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1600200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8079"/>
                </a:solidFill>
                <a:latin typeface="Arial"/>
              </a:rPr>
              <a:t>OBJETIVOS ESPECÍFICOS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920240"/>
            <a:ext cx="5852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50" b="1">
                <a:solidFill>
                  <a:srgbClr val="10A89E"/>
                </a:solidFill>
                <a:latin typeface="Arial"/>
              </a:rPr>
              <a:t>•  </a:t>
            </a:r>
            <a:r>
              <a:rPr sz="1350">
                <a:solidFill>
                  <a:srgbClr val="1F2937"/>
                </a:solidFill>
                <a:latin typeface="Arial"/>
              </a:rPr>
              <a:t>Acceso seguro con JWT, BCrypt y límite de intentos.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50" b="1">
                <a:solidFill>
                  <a:srgbClr val="10A89E"/>
                </a:solidFill>
                <a:latin typeface="Arial"/>
              </a:rPr>
              <a:t>•  </a:t>
            </a:r>
            <a:r>
              <a:rPr sz="1350">
                <a:solidFill>
                  <a:srgbClr val="1F2937"/>
                </a:solidFill>
                <a:latin typeface="Arial"/>
              </a:rPr>
              <a:t>RBAC con roles, permisos y overrides por usuario.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50" b="1">
                <a:solidFill>
                  <a:srgbClr val="10A89E"/>
                </a:solidFill>
                <a:latin typeface="Arial"/>
              </a:rPr>
              <a:t>•  </a:t>
            </a:r>
            <a:r>
              <a:rPr sz="1350">
                <a:solidFill>
                  <a:srgbClr val="1F2937"/>
                </a:solidFill>
                <a:latin typeface="Arial"/>
              </a:rPr>
              <a:t>Cuentas de ahorro, corriente y empresarial.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50" b="1">
                <a:solidFill>
                  <a:srgbClr val="10A89E"/>
                </a:solidFill>
                <a:latin typeface="Arial"/>
              </a:rPr>
              <a:t>•  </a:t>
            </a:r>
            <a:r>
              <a:rPr sz="1350">
                <a:solidFill>
                  <a:srgbClr val="1F2937"/>
                </a:solidFill>
                <a:latin typeface="Arial"/>
              </a:rPr>
              <a:t>Depósitos, retiros, transferencias y pagos.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50" b="1">
                <a:solidFill>
                  <a:srgbClr val="10A89E"/>
                </a:solidFill>
                <a:latin typeface="Arial"/>
              </a:rPr>
              <a:t>•  </a:t>
            </a:r>
            <a:r>
              <a:rPr sz="1350">
                <a:solidFill>
                  <a:srgbClr val="1F2937"/>
                </a:solidFill>
                <a:latin typeface="Arial"/>
              </a:rPr>
              <a:t>Motor R1–R4 y bandeja de casos para el analista.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350" b="1">
                <a:solidFill>
                  <a:srgbClr val="10A89E"/>
                </a:solidFill>
                <a:latin typeface="Arial"/>
              </a:rPr>
              <a:t>•  </a:t>
            </a:r>
            <a:r>
              <a:rPr sz="1350">
                <a:solidFill>
                  <a:srgbClr val="1F2937"/>
                </a:solidFill>
                <a:latin typeface="Arial"/>
              </a:rPr>
              <a:t>Dashboards, auditoría y despliegue en un contenedor.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257800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5349240"/>
            <a:ext cx="6400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B8079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5440680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paneles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6704" y="5257800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3008" y="5349240"/>
            <a:ext cx="6400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B8079"/>
                </a:solidFill>
                <a:latin typeface="Arial"/>
              </a:rPr>
              <a:t>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9664" y="5440680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permisos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5257800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5349240"/>
            <a:ext cx="6400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B8079"/>
                </a:solidFill>
                <a:latin typeface="Arial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5440680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tablas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9408" y="5257800"/>
            <a:ext cx="25603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5349240"/>
            <a:ext cx="6400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B8079"/>
                </a:solidFill>
                <a:latin typeface="Arial"/>
              </a:rPr>
              <a:t>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5440680"/>
            <a:ext cx="1554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Arial"/>
              </a:rPr>
              <a:t>endpoints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05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Modelo Canvas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Un proyecto académico con operación simulada.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55448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82495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SOCIOS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975104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Equipo, docente, hosting y MySQL local.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55448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682495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ACTIVIDADES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975104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Análisis, sprints, pruebas y despliegue.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554480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682495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PROPUESTA DE VALOR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975104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Cuentas + reglas + trazabilidad en un solo lugar.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081528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209544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RELACIÓN CON CLIENTES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502152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Autoservicio, analista y administrador.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104" y="3081528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3209544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SEGMENTOS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3502152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Usuarios, analistas y administradores.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3081528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3209544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RECURSOS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502152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Angular, Spring Boot, MySQL y Docker.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4608576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736592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CANALES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029200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SPA web responsive y API REST.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61104" y="4608576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736592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COSTES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5696" y="5029200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Tiempo de desarrollo y hosting gratuito.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4608576"/>
            <a:ext cx="3520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4736592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INGRESOS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5029200"/>
            <a:ext cx="320040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 i="0">
                <a:solidFill>
                  <a:srgbClr val="0B2545"/>
                </a:solidFill>
                <a:latin typeface="Arial"/>
              </a:rPr>
              <a:t>No aplica: proyecto académico.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172200"/>
            <a:ext cx="11155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Arial"/>
              </a:rPr>
              <a:t>El bloque de ingresos se deja explícito como «no aplica» para no presentar el prototipo como un producto comercial.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06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Alcance y límites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Lo que el sistema resuelve hoy y lo que queda fuera.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554480"/>
            <a:ext cx="5440680" cy="416052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783080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A34A"/>
                </a:solidFill>
                <a:latin typeface="Arial"/>
              </a:rPr>
              <a:t>INCLUYE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1488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6A34A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Login, registro, sesión JWT y cambio de contraseña.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6A34A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Usuarios, roles, permisos y overrides.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6A34A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Cuentas de ahorro, corriente y empresarial.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6A34A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Depósitos, retiros, transferencias y pagos.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6A34A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Motor R1–R4, casos y resolución del analista.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6A34A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Dashboards, auditoría, Docker y Render.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54480"/>
            <a:ext cx="5440680" cy="416052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83080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C2626"/>
                </a:solidFill>
                <a:latin typeface="Arial"/>
              </a:rPr>
              <a:t>NO INCLUYE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488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Dinero real ni conexión con una red bancaria.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MFA, recuperación por correo o revocación de tokens.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Alta disponibilidad, réplica o backups automáticos.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Suite E2E automatizada en el repositorio.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Cumplimiento regulatorio, firma digital o multi-moneda.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DC2626"/>
                </a:solidFill>
                <a:latin typeface="Arial"/>
              </a:rPr>
              <a:t>•  </a:t>
            </a:r>
            <a:r>
              <a:rPr sz="1250">
                <a:solidFill>
                  <a:srgbClr val="0B2545"/>
                </a:solidFill>
                <a:latin typeface="Arial"/>
              </a:rPr>
              <a:t>Cobros, tarjetas, préstamos o inversiones.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5897880"/>
            <a:ext cx="11109960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5971032"/>
            <a:ext cx="10698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Arial"/>
              </a:rPr>
              <a:t>El alcance es suficiente para demostrar arquitectura, seguridad, modelado y verificación; no para operar un banco.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07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Requerimientos que guiaron el diseño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60020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" y="1600200"/>
            <a:ext cx="3520440" cy="10972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28800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563EB"/>
                </a:solidFill>
                <a:latin typeface="Arial"/>
              </a:rPr>
              <a:t>ACCESO Y SEGURIDAD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9456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Login y autorregistro con rol USUARIO.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Sesión JWT y cierre por expiración.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Contraseñas con BCrypt y rate limiting.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Permisos validados en cada endpoint.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60020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61104" y="1600200"/>
            <a:ext cx="3520440" cy="109728"/>
          </a:xfrm>
          <a:prstGeom prst="roundRect">
            <a:avLst>
              <a:gd name="adj" fmla="val 20000"/>
            </a:avLst>
          </a:prstGeom>
          <a:solidFill>
            <a:srgbClr val="0B8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1828800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OPERACIÓN BANCARIA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19456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Cuentas: ahorro, corriente y empresarial.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Depósitos y retiros con contraseña.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Transferencias y pagos con reglas.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Casos, aprobación, rechazo y reversión.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60020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91856" y="1600200"/>
            <a:ext cx="3520440" cy="10972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1828800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D97706"/>
                </a:solidFill>
                <a:latin typeface="Arial"/>
              </a:rPr>
              <a:t>GOBIERNO Y TRAZABILIDAD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19456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CRUD de usuarios, roles y permisos.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Asignaciones y overrides grant/deny.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Auditoría de creador y última modificación.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100" b="1">
                <a:solidFill>
                  <a:srgbClr val="10A89E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Dashboards y filtros por estado y tipo.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53212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JWT HS256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47672" y="553212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BCrypt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1" y="553212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ACID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82312" y="553212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Responsive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1" y="553212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Auditoría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6952" y="5532120"/>
            <a:ext cx="132588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035040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Arial"/>
              </a:rPr>
              <a:t>24 requerimientos funcionales y 12 no funcionales documentados en el Word.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08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Arquitectura de software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SPA + API REST + MySQL en un solo contenedor.</a:t>
            </a:r>
          </a:p>
        </p:txBody>
      </p:sp>
      <p:pic>
        <p:nvPicPr>
          <p:cNvPr id="10" name="Picture 9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217" y="1536192"/>
            <a:ext cx="7534469" cy="4343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0" y="1536192"/>
            <a:ext cx="2514600" cy="128016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8592" y="1664208"/>
            <a:ext cx="2011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563EB"/>
                </a:solidFill>
                <a:latin typeface="Arial"/>
              </a:rPr>
              <a:t>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08592" y="1901952"/>
            <a:ext cx="210312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545"/>
                </a:solidFill>
                <a:latin typeface="Arial"/>
              </a:rPr>
              <a:t>Angular 22
Standalone +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944368"/>
            <a:ext cx="2514600" cy="128016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3072384"/>
            <a:ext cx="2011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B8079"/>
                </a:solidFill>
                <a:latin typeface="Arial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3310128"/>
            <a:ext cx="210312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545"/>
                </a:solidFill>
                <a:latin typeface="Arial"/>
              </a:rPr>
              <a:t>Spring Boot 4.1.2
Java 21 + JPA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4352544"/>
            <a:ext cx="2514600" cy="128016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4480560"/>
            <a:ext cx="20116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7706"/>
                </a:solidFill>
                <a:latin typeface="Arial"/>
              </a:rPr>
              <a:t>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4718304"/>
            <a:ext cx="210312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545"/>
                </a:solidFill>
                <a:latin typeface="Arial"/>
              </a:rPr>
              <a:t>MySQL 8
10 tablas · 2 vistas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5870448"/>
            <a:ext cx="251460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nginx · 1 puerto público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09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Modelo de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Identidad, operación y aseguramiento en 10 tablas.</a:t>
            </a:r>
          </a:p>
        </p:txBody>
      </p:sp>
      <p:pic>
        <p:nvPicPr>
          <p:cNvPr id="10" name="Picture 9" descr="modelo-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23" y="1536192"/>
            <a:ext cx="6051176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0" y="1572768"/>
            <a:ext cx="3977639" cy="9144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169164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RBAC + overrides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965960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roles, permisos, usuarios_roles, roles_permisos y usuarios_permisos.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624328"/>
            <a:ext cx="3977639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74320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Operación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017520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cuentas_bancarias, transacciones y casos con snapshot de cuentas.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3675887"/>
            <a:ext cx="3977639" cy="91440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379476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Aseguramiento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4069080"/>
            <a:ext cx="36118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transaccion_reglas guarda R1–R4 y saldo con su detalle.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800600"/>
            <a:ext cx="117043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4873752"/>
            <a:ext cx="457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521208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tablas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4800600"/>
            <a:ext cx="117043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4873752"/>
            <a:ext cx="457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521208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vistas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32720" y="4800600"/>
            <a:ext cx="117043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42448" y="4873752"/>
            <a:ext cx="457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42448" y="521208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triggers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806440"/>
            <a:ext cx="39319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4748B"/>
                </a:solidFill>
                <a:latin typeface="Arial"/>
              </a:rPr>
              <a:t>FK RESTRICT en cuentas y movimientos para preservar el historial contable.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Tres roles, un modelo de permisos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El menú se filtra, pero el backend vuelve a validar cada operación.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1508760"/>
            <a:ext cx="3520440" cy="10972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755648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Arial"/>
              </a:rPr>
              <a:t>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066543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563EB"/>
                </a:solidFill>
                <a:latin typeface="Arial"/>
              </a:rPr>
              <a:t>Opera sus propias cuentas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2395728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Deposita y retira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Transfiere y paga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Consulta sus movimientos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1508760"/>
            <a:ext cx="3520440" cy="109728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755648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Arial"/>
              </a:rPr>
              <a:t>ANALISTA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066543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A34A"/>
                </a:solidFill>
                <a:latin typeface="Arial"/>
              </a:rPr>
              <a:t>Supervisa y resuelve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395728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Ve todos los movimientos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Resuelve casos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Edita cuentas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50876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1508760"/>
            <a:ext cx="3520440" cy="10972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1755648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Arial"/>
              </a:rPr>
              <a:t>ADMINISTRADOR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066543"/>
            <a:ext cx="3108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97706"/>
                </a:solidFill>
                <a:latin typeface="Arial"/>
              </a:rPr>
              <a:t>Gobierna accesos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Gestiona usuarios y roles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Asigna permisos y overrides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Acceso total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75488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864608"/>
            <a:ext cx="21945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Arial"/>
              </a:rPr>
              <a:t>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5138928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ADMIN / ANALISTA / USUARIO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384" y="4983480"/>
            <a:ext cx="2560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4992" y="475488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1296" y="4864608"/>
            <a:ext cx="21945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Arial"/>
              </a:rPr>
              <a:t>Permisos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11296" y="5138928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plantilla RBAC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7024" y="4983480"/>
            <a:ext cx="2560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75488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4864608"/>
            <a:ext cx="21945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Arial"/>
              </a:rPr>
              <a:t>Override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5138928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grant / deny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1664" y="4983480"/>
            <a:ext cx="2560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34272" y="475488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 w="1143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0576" y="4864608"/>
            <a:ext cx="219456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Deny-wins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5138928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C4D6EB"/>
                </a:solidFill>
                <a:latin typeface="Arial"/>
              </a:rPr>
              <a:t>v_permisos_finales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" y="5897880"/>
            <a:ext cx="10972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Arial"/>
              </a:rPr>
              <a:t>El rol ADMINISTRADOR y los permisos base están protegidos por triggers: no se eliminan ni se modifican.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Autenticación de usuarios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Tres semanas para habilitar el acceso seguro y la base del gobierno de identidades.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45920"/>
            <a:ext cx="868680" cy="868680"/>
          </a:xfrm>
          <a:prstGeom prst="roundRect">
            <a:avLst>
              <a:gd name="adj" fmla="val 2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20240"/>
            <a:ext cx="868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1719072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Arial"/>
              </a:rPr>
              <a:t>Semana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011680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rial"/>
              </a:rPr>
              <a:t>Login + JWT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" y="2514600"/>
            <a:ext cx="19050" cy="274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2788920"/>
            <a:ext cx="868680" cy="86868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063239"/>
            <a:ext cx="868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2862072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Arial"/>
              </a:rPr>
              <a:t>Semana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154679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rial"/>
              </a:rPr>
              <a:t>RBAC + permisos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" y="3657600"/>
            <a:ext cx="19050" cy="274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" y="3931920"/>
            <a:ext cx="868680" cy="86868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206240"/>
            <a:ext cx="868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005072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Arial"/>
              </a:rPr>
              <a:t>Semana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297680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Arial"/>
              </a:rPr>
              <a:t>Usuarios, roles y pruebas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572768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HISTORIAS PRINCIPALES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1901952"/>
            <a:ext cx="6583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HU-01 Iniciar sesión y emitir JWT.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HU-02 Autorregistro con rol USUARIO.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HU-03 Sesión, expiración y cierre.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HU-04 RBAC + overrides deny-wins.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HU-05 Usuarios, roles y permisos.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HU-06 Rate limiting por IP y usuario.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4983480"/>
            <a:ext cx="6812280" cy="10058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5120640"/>
            <a:ext cx="12801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4E8DF"/>
                </a:solidFill>
                <a:latin typeface="Arial"/>
              </a:rPr>
              <a:t>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5394960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JWT HS256  ·  BCrypt  ·  29 permisos  ·  3 roles  ·  menú filtrado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60807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00" b="1">
                <a:solidFill>
                  <a:srgbClr val="16A34A"/>
                </a:solidFill>
                <a:latin typeface="Arial"/>
              </a:rPr>
              <a:t>401 sin token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60807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00" b="1">
                <a:solidFill>
                  <a:srgbClr val="16A34A"/>
                </a:solidFill>
                <a:latin typeface="Arial"/>
              </a:rPr>
              <a:t>403 sin permiso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60807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00" b="1">
                <a:solidFill>
                  <a:srgbClr val="16A34A"/>
                </a:solidFill>
                <a:latin typeface="Arial"/>
              </a:rPr>
              <a:t>200 con sesión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Flujo de inicio de sesión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BCrypt siempre; permisos por petición.</a:t>
            </a:r>
          </a:p>
        </p:txBody>
      </p:sp>
      <p:pic>
        <p:nvPicPr>
          <p:cNvPr id="10" name="Picture 9" descr="proceso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1" y="1536192"/>
            <a:ext cx="6400800" cy="4480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26679" y="1645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737360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627632"/>
            <a:ext cx="32918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Rate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892808"/>
            <a:ext cx="3291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Doble cubo: IP y IP + usuario.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514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606040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96312"/>
            <a:ext cx="32918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BCrypt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61488"/>
            <a:ext cx="3291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Hash ficticio si el usuario no existe.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33832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3474720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364992"/>
            <a:ext cx="32918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Estado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630168"/>
            <a:ext cx="3291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Cuenta activa antes de emitir.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42519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4343400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233672"/>
            <a:ext cx="32918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Permisos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498848"/>
            <a:ext cx="3291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Se cargan de la vista final.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5120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5212080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5102352"/>
            <a:ext cx="32918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JWT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5367528"/>
            <a:ext cx="3291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Identidad + expiración; respuesta 200.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5897880"/>
            <a:ext cx="3886200" cy="384048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5971032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D97706"/>
                </a:solidFill>
                <a:latin typeface="Arial"/>
              </a:rPr>
              <a:t>401 genérico para no revelar si el usuario existe.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13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Cuentas y movimientos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Cuatro semanas para convertir el acceso en operación bancaria.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5544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82495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563EB"/>
                </a:solidFill>
                <a:latin typeface="Arial"/>
              </a:rPr>
              <a:t>CUENTAS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20240"/>
            <a:ext cx="7315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545"/>
                </a:solidFill>
                <a:latin typeface="Arial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057400"/>
            <a:ext cx="23317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7 ahorro · 8 corriente · 7 empresarial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682495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8079"/>
                </a:solidFill>
                <a:latin typeface="Arial"/>
              </a:rPr>
              <a:t>MOVIMIENTOS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20240"/>
            <a:ext cx="7315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545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057400"/>
            <a:ext cx="23317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3 aprobados · 5 pendientes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29718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99816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D97706"/>
                </a:solidFill>
                <a:latin typeface="Arial"/>
              </a:rPr>
              <a:t>CASOS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337560"/>
            <a:ext cx="7315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545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3474720"/>
            <a:ext cx="23317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5 abiertos · 1 resuelto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29718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099816"/>
            <a:ext cx="18288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Arial"/>
              </a:rPr>
              <a:t>REGLAS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337560"/>
            <a:ext cx="7315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2545"/>
                </a:solidFill>
                <a:latin typeface="Arial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3474720"/>
            <a:ext cx="23317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evaluaciones R1–R4 persistidas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572768"/>
            <a:ext cx="3383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QUÉ SE CONSTRUYÓ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901952"/>
            <a:ext cx="35661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CRUD de cuentas con número automático o personalizado.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Depósitos y retiros con confirmación de contraseña.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Transferencias y pagos con R1–R4 y saldo.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Aplicación y reversión de saldos con bloqueo.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Casos y bandeja del analista.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Dashboards por rol y filtros de movimientos.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4846320"/>
            <a:ext cx="7406640" cy="82296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" y="5029200"/>
            <a:ext cx="69494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Saldos consistentes: SELECT … FOR UPDATE + transacción SQL.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50749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16A34A"/>
                </a:solidFill>
                <a:latin typeface="Arial"/>
              </a:rPr>
              <a:t>ACID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07492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00" b="1">
                <a:solidFill>
                  <a:srgbClr val="D97706"/>
                </a:solidFill>
                <a:latin typeface="Arial"/>
              </a:rPr>
              <a:t>Reversión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Cuatro tipos de movimiento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Dos se aprueban al instante; dos pasan por el motor de reglas.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55448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1554480"/>
            <a:ext cx="2606040" cy="914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78308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DEPÓSITO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1488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50" b="1">
                <a:solidFill>
                  <a:srgbClr val="2563EB"/>
                </a:solidFill>
                <a:latin typeface="Arial"/>
              </a:rPr>
              <a:t>Inmediato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542032"/>
            <a:ext cx="228600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4748B"/>
                </a:solidFill>
                <a:latin typeface="Arial"/>
              </a:rPr>
              <a:t>Acredita saldo en la cuenta destino. Confirma contraseña.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6704" y="155448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46704" y="1554480"/>
            <a:ext cx="2606040" cy="914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178308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RETIRO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1296" y="21488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50" b="1">
                <a:solidFill>
                  <a:srgbClr val="2563EB"/>
                </a:solidFill>
                <a:latin typeface="Arial"/>
              </a:rPr>
              <a:t>Inmediato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2542032"/>
            <a:ext cx="228600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4748B"/>
                </a:solidFill>
                <a:latin typeface="Arial"/>
              </a:rPr>
              <a:t>Debita saldo de la cuenta origen. Confirma contraseña.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55448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63056" y="1554480"/>
            <a:ext cx="2606040" cy="91440"/>
          </a:xfrm>
          <a:prstGeom prst="roundRect">
            <a:avLst>
              <a:gd name="adj" fmla="val 20000"/>
            </a:avLst>
          </a:prstGeom>
          <a:solidFill>
            <a:srgbClr val="0B8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78308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TRANSFERENCIA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21488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50" b="1">
                <a:solidFill>
                  <a:srgbClr val="0B8079"/>
                </a:solidFill>
                <a:latin typeface="Arial"/>
              </a:rPr>
              <a:t>Evaluado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542032"/>
            <a:ext cx="228600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4748B"/>
                </a:solidFill>
                <a:latin typeface="Arial"/>
              </a:rPr>
              <a:t>Origen → destino distinto. R1–R4 + saldo.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9408" y="1554480"/>
            <a:ext cx="26060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79408" y="1554480"/>
            <a:ext cx="2606040" cy="91440"/>
          </a:xfrm>
          <a:prstGeom prst="roundRect">
            <a:avLst>
              <a:gd name="adj" fmla="val 20000"/>
            </a:avLst>
          </a:prstGeom>
          <a:solidFill>
            <a:srgbClr val="0B8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783080"/>
            <a:ext cx="2286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PAGO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1488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50" b="1">
                <a:solidFill>
                  <a:srgbClr val="0B8079"/>
                </a:solidFill>
                <a:latin typeface="Arial"/>
              </a:rPr>
              <a:t>Evaluado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542032"/>
            <a:ext cx="228600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4748B"/>
                </a:solidFill>
                <a:latin typeface="Arial"/>
              </a:rPr>
              <a:t>Mismo flujo que transferencia, con concepto.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160520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CICLO DE ESTADOS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448056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4590288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Arial"/>
              </a:rPr>
              <a:t>PENDIENTE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4864608"/>
            <a:ext cx="23774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Se abre un caso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5264" y="4681728"/>
            <a:ext cx="182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56432" y="448056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21024" y="4590288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Arial"/>
              </a:rPr>
              <a:t>APROBADA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1024" y="4864608"/>
            <a:ext cx="23774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Saldos aplicados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4" y="4681728"/>
            <a:ext cx="182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82512" y="4480560"/>
            <a:ext cx="2697480" cy="77724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4" y="4590288"/>
            <a:ext cx="23774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Arial"/>
              </a:rPr>
              <a:t>RECHAZADA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7104" y="4864608"/>
            <a:ext cx="23774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Saldos revertidos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557784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19" y="5705856"/>
            <a:ext cx="106070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Transferencia/pago: R1–R4 + saldo → APROBADA automática; cualquier falla → PENDIENTE + caso.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15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Motor de reglas R1–R4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Una aprobación automática debe ser explicable, no una caja negra.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50876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1691639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819656"/>
            <a:ext cx="566928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Arial"/>
              </a:rP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673351"/>
            <a:ext cx="4206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Arial"/>
              </a:rPr>
              <a:t>Recurrencia hacia el destino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2011680"/>
            <a:ext cx="4297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≥ 20 % de los movimientos históricos del origen van a la misma cuenta.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2697480"/>
            <a:ext cx="4297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A34A"/>
                </a:solidFill>
                <a:latin typeface="Arial"/>
              </a:rPr>
              <a:t>12 de 48 = 25 %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0876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1691639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819656"/>
            <a:ext cx="566928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97706"/>
                </a:solidFill>
                <a:latin typeface="Arial"/>
              </a:rP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673351"/>
            <a:ext cx="4206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Arial"/>
              </a:rPr>
              <a:t>Recurrencia del tipo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2011680"/>
            <a:ext cx="4297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≥ 20 % de los movimientos históricos son del mismo tipo.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2697480"/>
            <a:ext cx="4297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97706"/>
                </a:solidFill>
                <a:latin typeface="Arial"/>
              </a:rPr>
              <a:t>9 de 48 = 19 %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47472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" y="36576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785615"/>
            <a:ext cx="566928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Arial"/>
              </a:rPr>
              <a:t>R3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3639312"/>
            <a:ext cx="4206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Arial"/>
              </a:rPr>
              <a:t>Monto vs promedio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3977639"/>
            <a:ext cx="4297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El monto no supera 2,5 veces el promedio histórico del origen.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4663440"/>
            <a:ext cx="4297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A34A"/>
                </a:solidFill>
                <a:latin typeface="Arial"/>
              </a:rPr>
              <a:t>S/ 1,250 &lt; S/ 2,400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3474720"/>
            <a:ext cx="54406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45936" y="36576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3785615"/>
            <a:ext cx="566928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Arial"/>
              </a:rPr>
              <a:t>R4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7456" y="3639312"/>
            <a:ext cx="42062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Arial"/>
              </a:rPr>
              <a:t>Intento de vaciado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3977639"/>
            <a:ext cx="429768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La diferencia con el saldo supera el 1 % (mínimo S/ 0,01).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7456" y="4663440"/>
            <a:ext cx="4297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A34A"/>
                </a:solidFill>
                <a:latin typeface="Arial"/>
              </a:rPr>
              <a:t>diferencia &gt; umbral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5532120"/>
            <a:ext cx="11109960" cy="685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5687568"/>
            <a:ext cx="67665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APROBADA = R1 ∧ R2 ∧ R3 ∧ R4 ∧ saldo suficiente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5687568"/>
            <a:ext cx="35661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DE68A"/>
                </a:solidFill>
                <a:latin typeface="Arial"/>
              </a:rPr>
              <a:t>Cualquier falla → PENDIENTE + caso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Flujo de una transferencia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Del registro a la resolución del caso, sin perder el rastro.</a:t>
            </a:r>
          </a:p>
        </p:txBody>
      </p:sp>
      <p:pic>
        <p:nvPicPr>
          <p:cNvPr id="10" name="Picture 9" descr="proceso-mov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64" y="1371600"/>
            <a:ext cx="7273255" cy="4663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75320" y="1572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55064"/>
            <a:ext cx="365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1554480"/>
            <a:ext cx="2560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Arial"/>
              </a:rPr>
              <a:t>Registrar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810512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Origen, destino y monto.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4871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569463"/>
            <a:ext cx="365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468879"/>
            <a:ext cx="2560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Arial"/>
              </a:rPr>
              <a:t>Bloquear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724911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Cuentas con FOR UPDATE.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4015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483863"/>
            <a:ext cx="365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3383279"/>
            <a:ext cx="2560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Arial"/>
              </a:rPr>
              <a:t>Evaluar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3639311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R1–R4 + saldo.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43159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398264"/>
            <a:ext cx="365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4297680"/>
            <a:ext cx="2560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Arial"/>
              </a:rPr>
              <a:t>Resolver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2" y="4553712"/>
            <a:ext cx="2743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Aplicar, revertir o derivar.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5349240"/>
            <a:ext cx="3291840" cy="82296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5468112"/>
            <a:ext cx="2926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7706"/>
                </a:solidFill>
                <a:latin typeface="Arial"/>
              </a:rPr>
              <a:t>16 evaluaciones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5742432"/>
            <a:ext cx="2926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R1–R4 y saldo persistidos por transacción.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6309360"/>
            <a:ext cx="3291840" cy="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17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La bandeja del analista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Los casos convierten una regla fallida en una decisión revisable.</a:t>
            </a:r>
          </a:p>
        </p:txBody>
      </p:sp>
      <p:pic>
        <p:nvPicPr>
          <p:cNvPr id="10" name="Picture 9" descr="wire-c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25892"/>
            <a:ext cx="6995160" cy="4371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554480"/>
            <a:ext cx="34747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QUÉ VE EL ANALISTA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74519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Número de caso y transacción asociada.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Cuentas origen/destino y monto.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Estado de cada regla y su detalle.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Acciones: aprobar, rechazar, editar, eliminar.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0A89E"/>
                </a:solidFill>
                <a:latin typeface="Arial"/>
              </a:rPr>
              <a:t>•  </a:t>
            </a:r>
            <a:r>
              <a:rPr sz="1050">
                <a:solidFill>
                  <a:srgbClr val="1F2937"/>
                </a:solidFill>
                <a:latin typeface="Arial"/>
              </a:rPr>
              <a:t>Sincronización del caso al resolver.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16052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4279392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6A34A"/>
                </a:solidFill>
                <a:latin typeface="Arial"/>
              </a:rPr>
              <a:t>APROBAR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4526280"/>
            <a:ext cx="3291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Aplica saldos y deja el caso RESUELTO.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029200"/>
            <a:ext cx="3657600" cy="77724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5148072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DC2626"/>
                </a:solidFill>
                <a:latin typeface="Arial"/>
              </a:rPr>
              <a:t>RECHAZAR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5394960"/>
            <a:ext cx="3291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Revierte saldos y deja el caso RECHAZADO.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989320"/>
            <a:ext cx="365760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RESOLVER_CASO requerido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18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PROTOTIPOS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Acceso y navegación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Wireframes de estructura generados a partir de la interfaz implementada.</a:t>
            </a:r>
          </a:p>
        </p:txBody>
      </p:sp>
      <p:pic>
        <p:nvPicPr>
          <p:cNvPr id="10" name="Picture 9" descr="wir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23047"/>
            <a:ext cx="5440679" cy="3400424"/>
          </a:xfrm>
          <a:prstGeom prst="rect">
            <a:avLst/>
          </a:prstGeom>
        </p:spPr>
      </p:pic>
      <p:pic>
        <p:nvPicPr>
          <p:cNvPr id="11" name="Picture 10" descr="wire-laun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23047"/>
            <a:ext cx="5440679" cy="3400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07492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Login: marca, credenciales y registro.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7492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Selector: paneles disponibles y bloqueados.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548640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559552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2545"/>
                </a:solidFill>
                <a:latin typeface="Arial"/>
              </a:rPr>
              <a:t>Un solo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788152"/>
            <a:ext cx="3200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sidebar, topbar, tema y logout compartidos.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548640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5559552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2545"/>
                </a:solidFill>
                <a:latin typeface="Arial"/>
              </a:rPr>
              <a:t>Permisos visibles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5788152"/>
            <a:ext cx="3200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los módulos sin permiso no se muestran.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548640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9016" y="5559552"/>
            <a:ext cx="3200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2545"/>
                </a:solidFill>
                <a:latin typeface="Arial"/>
              </a:rPr>
              <a:t>Responsive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5788152"/>
            <a:ext cx="3200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drawer en móvil y contenido fluido.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19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PROTOTIPOS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Administración y cuentas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Dashboards con KPIs y tablas operativas.</a:t>
            </a:r>
          </a:p>
        </p:txBody>
      </p:sp>
      <p:pic>
        <p:nvPicPr>
          <p:cNvPr id="10" name="Picture 9" descr="wir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23047"/>
            <a:ext cx="5440679" cy="3400424"/>
          </a:xfrm>
          <a:prstGeom prst="rect">
            <a:avLst/>
          </a:prstGeom>
        </p:spPr>
      </p:pic>
      <p:pic>
        <p:nvPicPr>
          <p:cNvPr id="11" name="Picture 10" descr="wire-cuen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23047"/>
            <a:ext cx="5440679" cy="3400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07492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Administración: usuarios, roles y permisos.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7492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Cuentas: saldo, titular, tipo y estado.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548640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559552"/>
            <a:ext cx="5120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563EB"/>
                </a:solidFill>
                <a:latin typeface="Arial"/>
              </a:rPr>
              <a:t>4 KPIs + actividad reciente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48640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559552"/>
            <a:ext cx="5120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A34A"/>
                </a:solidFill>
                <a:latin typeface="Arial"/>
              </a:rPr>
              <a:t>Tabla con acciones por permiso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20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3 · PROTOTIPOS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Movimientos y casos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La evaluación de reglas se muestra junto a la operación.</a:t>
            </a:r>
          </a:p>
        </p:txBody>
      </p:sp>
      <p:pic>
        <p:nvPicPr>
          <p:cNvPr id="10" name="Picture 9" descr="wire-movimi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23047"/>
            <a:ext cx="5440679" cy="3400424"/>
          </a:xfrm>
          <a:prstGeom prst="rect">
            <a:avLst/>
          </a:prstGeom>
        </p:spPr>
      </p:pic>
      <p:pic>
        <p:nvPicPr>
          <p:cNvPr id="11" name="Picture 10" descr="wire-ca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23047"/>
            <a:ext cx="5440679" cy="3400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07492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Movimientos: filtros, estados y evaluación.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74920"/>
            <a:ext cx="53035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Casos: bandeja y detalle de reglas.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5486400"/>
            <a:ext cx="3520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0B2545"/>
                </a:solidFill>
                <a:latin typeface="Arial"/>
              </a:rPr>
              <a:t>R1 ✓  R2 ✗  R3 ✓  R4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5486400"/>
            <a:ext cx="3520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0B2545"/>
                </a:solidFill>
                <a:latin typeface="Arial"/>
              </a:rPr>
              <a:t>ABIERTO → RESUELTO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5486400"/>
            <a:ext cx="3520440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RESOLVER_CASO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21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Verificación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Build, pruebas, API, seguridad y consistencia del esquema.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554480"/>
          <a:ext cx="731520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18288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Comprobación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Evidencia</a:t>
                      </a:r>
                    </a:p>
                  </a:txBody>
                  <a:tcPr marL="73152" marR="73152" marT="36576" marB="36576" anchor="ctr">
                    <a:solidFill>
                      <a:srgbClr val="0B254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Build frontend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Exit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323,48 kB inicial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Pruebas backend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Exit 0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Spring + MySQL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Health / API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204 / 200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11 endpoints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Seguridad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401 / 403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sin token / CORS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Validación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POST vacío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Base de datos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10 tablas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2 vistas · 6 triggers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E2E y carga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Pendiente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Arial"/>
                        </a:rPr>
                        <a:t>plan de regresión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229600" y="1508760"/>
          <a:ext cx="33375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229600" y="4800600"/>
            <a:ext cx="3337560" cy="114300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4919472"/>
            <a:ext cx="30175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D97706"/>
                </a:solidFill>
                <a:latin typeface="Arial"/>
              </a:rPr>
              <a:t>19 aprobadas · 2 parciales · 1 diseñada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5230368"/>
            <a:ext cx="30175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Las parciales/diseñadas no se reportan como aprobadas.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580644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Arial"/>
              </a:rPr>
              <a:t>La verificación se ejecutó el 25/10/2026 en el entorno local.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22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Despliegue en un contenedor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nginx + Spring Boot + Angular; MySQL queda fuera del contenedor.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828800"/>
            <a:ext cx="1417320" cy="192024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965960"/>
            <a:ext cx="11430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563EB"/>
                </a:solidFill>
                <a:latin typeface="Arial"/>
              </a:rPr>
              <a:t>NAVEGADOR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304288"/>
            <a:ext cx="10972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2545"/>
                </a:solidFill>
                <a:latin typeface="Arial"/>
              </a:rPr>
              <a:t>SPA
Angular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15544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691640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B2545"/>
                </a:solidFill>
                <a:latin typeface="Arial"/>
              </a:rPr>
              <a:t>CONTENEDOR 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2039112"/>
            <a:ext cx="1691640" cy="141732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194560"/>
            <a:ext cx="1417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8079"/>
                </a:solidFill>
                <a:latin typeface="Arial"/>
              </a:rPr>
              <a:t>nginx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560320"/>
            <a:ext cx="141732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B2545"/>
                </a:solidFill>
                <a:latin typeface="Arial"/>
              </a:rPr>
              <a:t>SPA + proxy /api
PORT 10000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039112"/>
            <a:ext cx="1691640" cy="141732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194560"/>
            <a:ext cx="1417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Arial"/>
              </a:rPr>
              <a:t>Spring Boot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560320"/>
            <a:ext cx="141732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B2545"/>
                </a:solidFill>
                <a:latin typeface="Arial"/>
              </a:rPr>
              <a:t>API /api
BACKEND_PORT 2003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2587752"/>
            <a:ext cx="25603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749039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supervisord arranca nginx y el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014215"/>
            <a:ext cx="484632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Arial"/>
              </a:rPr>
              <a:t>Render inyecta PORT y las variables de entorno.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920240"/>
            <a:ext cx="1874519" cy="14173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2075688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Arial"/>
              </a:rPr>
              <a:t>MySQL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441448"/>
            <a:ext cx="155448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B2545"/>
                </a:solidFill>
                <a:latin typeface="Arial"/>
              </a:rPr>
              <a:t>Base de datos
servicio externo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199632" y="2542032"/>
            <a:ext cx="1737360" cy="10972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2148840"/>
            <a:ext cx="3200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64748B"/>
                </a:solidFill>
                <a:latin typeface="Arial"/>
              </a:rPr>
              <a:t>JDBC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956816" y="2697480"/>
            <a:ext cx="164592" cy="914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23160" y="438912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 solo servicio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38912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 solo puerto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389120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sin CORS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498348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76656" y="5120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193792"/>
            <a:ext cx="329184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102352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545"/>
                </a:solidFill>
                <a:latin typeface="Arial"/>
              </a:rPr>
              <a:t>Esquema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5440680"/>
            <a:ext cx="2331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mysql &lt; backend/schema.sql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9272" y="498348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465576" y="5120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65576" y="5193792"/>
            <a:ext cx="329184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5102352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545"/>
                </a:solidFill>
                <a:latin typeface="Arial"/>
              </a:rPr>
              <a:t>Entorno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65576" y="5440680"/>
            <a:ext cx="2331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backend/.env + JWT_SECRET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8192" y="498348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54496" y="5120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54496" y="5193792"/>
            <a:ext cx="329184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102352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545"/>
                </a:solidFill>
                <a:latin typeface="Arial"/>
              </a:rPr>
              <a:t>Build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4496" y="5440680"/>
            <a:ext cx="2331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docker build -t sistema-bancario 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97112" y="498348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43416" y="5120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43416" y="5193792"/>
            <a:ext cx="329184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5102352"/>
            <a:ext cx="19202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545"/>
                </a:solidFill>
                <a:latin typeface="Arial"/>
              </a:rPr>
              <a:t>Publicar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43416" y="5440680"/>
            <a:ext cx="2331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Arial"/>
              </a:rPr>
              <a:t>Render Blueprint / health /api/health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62179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4748B"/>
                </a:solidFill>
                <a:latin typeface="Arial"/>
              </a:rPr>
              <a:t>El plan gratuito de Render suspende el servicio tras 15 min de inactividad.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23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CAPÍTULO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Seguridad y mantenimiento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Lo que ya está implementado y lo que debe crecer antes de producción.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IMPLEMENTADO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91440" cy="566928"/>
          </a:xfrm>
          <a:prstGeom prst="roundRect">
            <a:avLst>
              <a:gd name="adj" fmla="val 2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2194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545"/>
                </a:solidFill>
                <a:latin typeface="Arial"/>
              </a:rPr>
              <a:t>JWT HS256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920240"/>
            <a:ext cx="26517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Token firmado, expiración y validación de issuer.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615184"/>
            <a:ext cx="91440" cy="566928"/>
          </a:xfrm>
          <a:prstGeom prst="roundRect">
            <a:avLst>
              <a:gd name="adj" fmla="val 2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615184"/>
            <a:ext cx="2194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545"/>
                </a:solidFill>
                <a:latin typeface="Arial"/>
              </a:rPr>
              <a:t>BCrypt + rate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633472"/>
            <a:ext cx="26517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Hash lento y doble cubo por IP/usuario.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3328416"/>
            <a:ext cx="91440" cy="566928"/>
          </a:xfrm>
          <a:prstGeom prst="roundRect">
            <a:avLst>
              <a:gd name="adj" fmla="val 2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328416"/>
            <a:ext cx="2194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545"/>
                </a:solidFill>
                <a:latin typeface="Arial"/>
              </a:rPr>
              <a:t>RBAC + overrides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346704"/>
            <a:ext cx="26517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Permisos por endpoint; deny-wins.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4041648"/>
            <a:ext cx="91440" cy="566928"/>
          </a:xfrm>
          <a:prstGeom prst="roundRect">
            <a:avLst>
              <a:gd name="adj" fmla="val 2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041648"/>
            <a:ext cx="2194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545"/>
                </a:solidFill>
                <a:latin typeface="Arial"/>
              </a:rPr>
              <a:t>Auditoría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059936"/>
            <a:ext cx="26517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creado_por, actualizado_por y fechas.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4754880"/>
            <a:ext cx="91440" cy="566928"/>
          </a:xfrm>
          <a:prstGeom prst="roundRect">
            <a:avLst>
              <a:gd name="adj" fmla="val 20000"/>
            </a:avLst>
          </a:prstGeom>
          <a:solidFill>
            <a:srgbClr val="10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754880"/>
            <a:ext cx="2194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545"/>
                </a:solidFill>
                <a:latin typeface="Arial"/>
              </a:rPr>
              <a:t>Integridad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773168"/>
            <a:ext cx="26517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Arial"/>
              </a:rPr>
              <a:t>Transacciones SQL y bloqueo pesimista.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572768"/>
            <a:ext cx="4572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D97706"/>
                </a:solidFill>
                <a:latin typeface="Arial"/>
              </a:rPr>
              <a:t>SIGUIENTE NIVEL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901952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MFA (TOTP) y recuperación por correo.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Refresh tokens con rotación y revocación.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Backups automáticos y prueba de restauración.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Observabilidad: métricas, trazas y alertas.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CI/CD con análisis de dependencias y secretos.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D97706"/>
                </a:solidFill>
                <a:latin typeface="Arial"/>
              </a:rPr>
              <a:t>•  </a:t>
            </a:r>
            <a:r>
              <a:rPr sz="1100">
                <a:solidFill>
                  <a:srgbClr val="1F2937"/>
                </a:solidFill>
                <a:latin typeface="Arial"/>
              </a:rPr>
              <a:t>Cifrado en reposo y gestión de secretos.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800600"/>
            <a:ext cx="5303520" cy="82296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4919472"/>
            <a:ext cx="49834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 i="0">
                <a:solidFill>
                  <a:srgbClr val="DC2626"/>
                </a:solidFill>
                <a:latin typeface="Arial"/>
              </a:rPr>
              <a:t>No implementado: MFA, revocación de JWT, backups automáticos ni cumplimiento regulatorio.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852160"/>
            <a:ext cx="10972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Arial"/>
              </a:rPr>
              <a:t>El prototipo demuestra el control de acceso; un banco real exige más capas.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24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Conclusiones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Un sistema demostrativo con decisiones de ingeniería verificables.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554480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737360"/>
            <a:ext cx="6400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73736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Arial"/>
              </a:rPr>
              <a:t>Un solo 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103120"/>
            <a:ext cx="4297680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4748B"/>
                </a:solidFill>
                <a:latin typeface="Arial"/>
              </a:rPr>
              <a:t>Administración, Cuentas, Transacciones y Analista comparten sidebar, topbar, tema y logout.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54480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37360"/>
            <a:ext cx="6400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173736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Arial"/>
              </a:rPr>
              <a:t>RBAC expresivo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4" y="2103120"/>
            <a:ext cx="4297680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4748B"/>
                </a:solidFill>
                <a:latin typeface="Arial"/>
              </a:rPr>
              <a:t>Roles, permisos y overrides con deny-wins; el backend valida cada endpoint.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429000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3611880"/>
            <a:ext cx="6400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61188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Arial"/>
              </a:rPr>
              <a:t>Reglas explicables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977639"/>
            <a:ext cx="4297680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4748B"/>
                </a:solidFill>
                <a:latin typeface="Arial"/>
              </a:rPr>
              <a:t>R1–R4 con detalle persistido; el analista decide con evidencia, no a ciegas.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429000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611880"/>
            <a:ext cx="6400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8079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5744" y="3611880"/>
            <a:ext cx="4297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Arial"/>
              </a:rPr>
              <a:t>Verificación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3977639"/>
            <a:ext cx="4297680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4748B"/>
                </a:solidFill>
                <a:latin typeface="Arial"/>
              </a:rPr>
              <a:t>Build, tests, API, seguridad y base de datos comprobados el 25/10/2026.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5394960"/>
            <a:ext cx="11109960" cy="7315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5577840"/>
            <a:ext cx="106070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Límites: operación simulada · sin MFA · sin revocación de tokens · sin suite E2E automatizada.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6419088"/>
            <a:ext cx="11130991" cy="1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6492240"/>
            <a:ext cx="7680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Sistema Bancario  ·  Documentación del proyecto  ·  Octubre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12703" y="6473952"/>
            <a:ext cx="548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64748B"/>
                </a:solidFill>
                <a:latin typeface="Arial"/>
              </a:rPr>
              <a:t>25</a:t>
            </a:r>
          </a:p>
        </p:txBody>
      </p:sp>
      <p:sp>
        <p:nvSpPr>
          <p:cNvPr id="5" name="Oval 4"/>
          <p:cNvSpPr/>
          <p:nvPr/>
        </p:nvSpPr>
        <p:spPr>
          <a:xfrm>
            <a:off x="11231575" y="347472"/>
            <a:ext cx="347472" cy="347472"/>
          </a:xfrm>
          <a:prstGeom prst="ellipse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8079"/>
                </a:solidFill>
                <a:latin typeface="Arial"/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21792"/>
            <a:ext cx="106070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2545"/>
                </a:solidFill>
                <a:latin typeface="Arial"/>
              </a:rPr>
              <a:t>Recomendaciones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161288"/>
            <a:ext cx="91440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61872"/>
            <a:ext cx="10972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Arial"/>
              </a:rPr>
              <a:t>Siguientes pasos para acercar el prototipo a producción.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5212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MFA y recuperación de contraseña.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Refresh tokens con rotación y revocación.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Pruebas E2E con Playwright.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Pruebas de integración con Testcontainers.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10A89E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Idempotency keys en movimientos.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212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D4A017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Reglas configurables y versionadas.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D4A017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Notificaciones de casos y movimientos.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D4A017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Observabilidad y alertas operativas.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D4A017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Backups automáticos y restauración.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250" b="1">
                <a:solidFill>
                  <a:srgbClr val="D4A017"/>
                </a:solidFill>
                <a:latin typeface="Arial"/>
              </a:rPr>
              <a:t>•  </a:t>
            </a:r>
            <a:r>
              <a:rPr sz="1250">
                <a:solidFill>
                  <a:srgbClr val="1F2937"/>
                </a:solidFill>
                <a:latin typeface="Arial"/>
              </a:rPr>
              <a:t>CI/CD con escaneo de secretos.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98348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5102352"/>
            <a:ext cx="3657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6A34A"/>
                </a:solidFill>
                <a:latin typeface="Arial"/>
              </a:rPr>
              <a:t>Siguiente iteración sugerida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5394960"/>
            <a:ext cx="10515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545"/>
                </a:solidFill>
                <a:latin typeface="Arial"/>
              </a:rPr>
              <a:t>MFA + refresh tokens + E2E + observabilidad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035040"/>
            <a:ext cx="10972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Arial"/>
              </a:rPr>
              <a:t>Priorizar seguridad y pruebas antes de ampliar funcionalidad.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645920"/>
            <a:ext cx="4754880" cy="4754880"/>
          </a:xfrm>
          <a:prstGeom prst="ellipse">
            <a:avLst/>
          </a:prstGeom>
          <a:solidFill>
            <a:srgbClr val="114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0D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280160"/>
            <a:ext cx="5486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E8D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82296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Sistema Bancario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697480"/>
            <a:ext cx="77724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4D6EB"/>
                </a:solidFill>
                <a:latin typeface="Arial"/>
              </a:rPr>
              <a:t>Cuentas, movimientos y casos con seguridad y trazabilidad.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3429000"/>
            <a:ext cx="1280160" cy="38100"/>
          </a:xfrm>
          <a:prstGeom prst="rect">
            <a:avLst/>
          </a:prstGeom>
          <a:solidFill>
            <a:srgbClr val="10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88620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Demo local: http://localhost:4200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251960"/>
            <a:ext cx="7315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E8DF"/>
                </a:solidFill>
                <a:latin typeface="Arial"/>
              </a:rPr>
              <a:t>API: http://localhost:2003/api  ·  Health: /api/health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892040"/>
            <a:ext cx="8229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D6EB"/>
                </a:solidFill>
                <a:latin typeface="Arial"/>
              </a:rPr>
              <a:t>Documento Word y presentación disponibles en la carpeta docs/ del repositorio.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989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Arial"/>
              </a:rPr>
              <a:t>Octubre 2026  ·  Angular 22  ·  Spring Boot 4.1.2  ·  Java 21  ·  MySQL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Bancario — Presentación del proyecto</dc:title>
  <dc:subject>Planificación, diseño, desarrollo, pruebas y despliegue</dc:subject>
  <dc:creator>Equipo de desarrollo del Sistema Bancario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